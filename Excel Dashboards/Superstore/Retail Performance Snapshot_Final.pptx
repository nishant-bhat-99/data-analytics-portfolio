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Medium" panose="000006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" y="4038600"/>
            <a:ext cx="9220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55394" y="2219325"/>
            <a:ext cx="968121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Retail Performance Snapshot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85900" y="3314700"/>
            <a:ext cx="9220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Strategic Analysis of Sales Trends, Profitability, and Operational Efficiency.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485900" y="4238625"/>
            <a:ext cx="9220200" cy="94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Prepared for Leadership Review</a:t>
            </a:r>
            <a:b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TEAM DYNAMO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9600-C0FF-7372-C5A7-0199807BF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319D5-C2F4-E166-AE07-60C142ED4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84;p13">
            <a:extLst>
              <a:ext uri="{FF2B5EF4-FFF2-40B4-BE49-F238E27FC236}">
                <a16:creationId xmlns:a16="http://schemas.microsoft.com/office/drawing/2014/main" id="{6B0902B4-CF29-EEE3-3F29-173FBB0E35D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4;p13">
            <a:extLst>
              <a:ext uri="{FF2B5EF4-FFF2-40B4-BE49-F238E27FC236}">
                <a16:creationId xmlns:a16="http://schemas.microsoft.com/office/drawing/2014/main" id="{A5CA5409-0F93-38E9-62CA-8E5500EA41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5;p13">
            <a:extLst>
              <a:ext uri="{FF2B5EF4-FFF2-40B4-BE49-F238E27FC236}">
                <a16:creationId xmlns:a16="http://schemas.microsoft.com/office/drawing/2014/main" id="{6603BDFD-3734-4460-EDA8-0D04B30BFB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067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AD1BE0BE-AB75-1985-D3E6-A0CC97C21C6B}"/>
              </a:ext>
            </a:extLst>
          </p:cNvPr>
          <p:cNvSpPr txBox="1"/>
          <p:nvPr/>
        </p:nvSpPr>
        <p:spPr>
          <a:xfrm>
            <a:off x="571500" y="2183010"/>
            <a:ext cx="969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can we optimize our retail performance across product categories to maximize net profitability?</a:t>
            </a:r>
            <a:endParaRPr sz="1600" dirty="0"/>
          </a:p>
        </p:txBody>
      </p:sp>
      <p:sp>
        <p:nvSpPr>
          <p:cNvPr id="10" name="Google Shape;89;p13">
            <a:extLst>
              <a:ext uri="{FF2B5EF4-FFF2-40B4-BE49-F238E27FC236}">
                <a16:creationId xmlns:a16="http://schemas.microsoft.com/office/drawing/2014/main" id="{A2BA170F-91F8-F080-C790-E4CF2F957809}"/>
              </a:ext>
            </a:extLst>
          </p:cNvPr>
          <p:cNvSpPr/>
          <p:nvPr/>
        </p:nvSpPr>
        <p:spPr>
          <a:xfrm>
            <a:off x="571500" y="4926210"/>
            <a:ext cx="523875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1;p13">
            <a:extLst>
              <a:ext uri="{FF2B5EF4-FFF2-40B4-BE49-F238E27FC236}">
                <a16:creationId xmlns:a16="http://schemas.microsoft.com/office/drawing/2014/main" id="{B3BBDDEF-68E1-F28F-8A9B-5644FB276A20}"/>
              </a:ext>
            </a:extLst>
          </p:cNvPr>
          <p:cNvSpPr txBox="1"/>
          <p:nvPr/>
        </p:nvSpPr>
        <p:spPr>
          <a:xfrm>
            <a:off x="904875" y="2925960"/>
            <a:ext cx="81248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Category Value: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Which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segments drive core profit vs. just volume?</a:t>
            </a:r>
            <a:endParaRPr dirty="0"/>
          </a:p>
        </p:txBody>
      </p:sp>
      <p:sp>
        <p:nvSpPr>
          <p:cNvPr id="13" name="Google Shape;92;p13">
            <a:extLst>
              <a:ext uri="{FF2B5EF4-FFF2-40B4-BE49-F238E27FC236}">
                <a16:creationId xmlns:a16="http://schemas.microsoft.com/office/drawing/2014/main" id="{43A0FCF0-DCF8-3A57-865B-771235672B3E}"/>
              </a:ext>
            </a:extLst>
          </p:cNvPr>
          <p:cNvSpPr txBox="1"/>
          <p:nvPr/>
        </p:nvSpPr>
        <p:spPr>
          <a:xfrm>
            <a:off x="904875" y="3687960"/>
            <a:ext cx="705379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Discount Impact: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aggressive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markdowns eroding our margins?</a:t>
            </a:r>
            <a:endParaRPr dirty="0"/>
          </a:p>
        </p:txBody>
      </p:sp>
      <p:sp>
        <p:nvSpPr>
          <p:cNvPr id="14" name="Google Shape;93;p13">
            <a:extLst>
              <a:ext uri="{FF2B5EF4-FFF2-40B4-BE49-F238E27FC236}">
                <a16:creationId xmlns:a16="http://schemas.microsoft.com/office/drawing/2014/main" id="{4E08FE97-0053-CD75-D11C-0C369BFE2274}"/>
              </a:ext>
            </a:extLst>
          </p:cNvPr>
          <p:cNvSpPr txBox="1"/>
          <p:nvPr/>
        </p:nvSpPr>
        <p:spPr>
          <a:xfrm>
            <a:off x="904875" y="444996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Inventory Planning: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How does demand vary by segment?</a:t>
            </a:r>
            <a:endParaRPr dirty="0"/>
          </a:p>
        </p:txBody>
      </p:sp>
      <p:sp>
        <p:nvSpPr>
          <p:cNvPr id="15" name="Google Shape;94;p13">
            <a:extLst>
              <a:ext uri="{FF2B5EF4-FFF2-40B4-BE49-F238E27FC236}">
                <a16:creationId xmlns:a16="http://schemas.microsoft.com/office/drawing/2014/main" id="{9EA4F70E-AD27-4A9B-B0BA-A0F66FAF4A06}"/>
              </a:ext>
            </a:extLst>
          </p:cNvPr>
          <p:cNvSpPr txBox="1"/>
          <p:nvPr/>
        </p:nvSpPr>
        <p:spPr>
          <a:xfrm>
            <a:off x="762000" y="571500"/>
            <a:ext cx="11401425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Business Question</a:t>
            </a:r>
            <a:endParaRPr dirty="0"/>
          </a:p>
        </p:txBody>
      </p:sp>
      <p:sp>
        <p:nvSpPr>
          <p:cNvPr id="16" name="Google Shape;95;p13">
            <a:extLst>
              <a:ext uri="{FF2B5EF4-FFF2-40B4-BE49-F238E27FC236}">
                <a16:creationId xmlns:a16="http://schemas.microsoft.com/office/drawing/2014/main" id="{52FBFE29-9D69-E942-2674-B56AA04144A5}"/>
              </a:ext>
            </a:extLst>
          </p:cNvPr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96;p13">
            <a:extLst>
              <a:ext uri="{FF2B5EF4-FFF2-40B4-BE49-F238E27FC236}">
                <a16:creationId xmlns:a16="http://schemas.microsoft.com/office/drawing/2014/main" id="{065450FF-BE8F-EA89-2A56-02B6D30E97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59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97;p13">
            <a:extLst>
              <a:ext uri="{FF2B5EF4-FFF2-40B4-BE49-F238E27FC236}">
                <a16:creationId xmlns:a16="http://schemas.microsoft.com/office/drawing/2014/main" id="{65DD5DF1-1167-979D-4B05-F3CEC9CED6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879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98;p13">
            <a:extLst>
              <a:ext uri="{FF2B5EF4-FFF2-40B4-BE49-F238E27FC236}">
                <a16:creationId xmlns:a16="http://schemas.microsoft.com/office/drawing/2014/main" id="{B9D528B3-D4D4-627D-16F8-663338CF97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4996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056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4087"/>
            <a:ext cx="19812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8450" y="2224087"/>
            <a:ext cx="19812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5400" y="2224087"/>
            <a:ext cx="19812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2350" y="2224087"/>
            <a:ext cx="19812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39300" y="2224087"/>
            <a:ext cx="19812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00675" y="3862387"/>
            <a:ext cx="1390650" cy="385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66775" y="3119437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REVENUE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3300412"/>
            <a:ext cx="1390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$2.30M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719512"/>
            <a:ext cx="13906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Overall sales volume generated across all categories.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133725" y="3119437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PROFIT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133725" y="3300412"/>
            <a:ext cx="1390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$286K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3133725" y="3719512"/>
            <a:ext cx="139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Net earnings after accounting for all product costs.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400675" y="3119437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PROFIT MARGIN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400675" y="3300412"/>
            <a:ext cx="1390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12.4%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67625" y="3119437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AVG. DISCOUNT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67625" y="3300412"/>
            <a:ext cx="1390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15.6%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667625" y="3719512"/>
            <a:ext cx="139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price reduction applied across transactions.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934575" y="3119437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TOP REGION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934575" y="3300412"/>
            <a:ext cx="1390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West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934575" y="3719512"/>
            <a:ext cx="139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geographic area driving the highest revenue.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71600" y="2557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38550" y="2557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53125" y="25574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55022" y="3987700"/>
            <a:ext cx="881955" cy="16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72450" y="2557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415587" y="25574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Core Performance Indicators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52937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47700" y="5405437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Insight: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While Technology leads in value creation, high sales volume in Furniture is not yielding expected profits due to internal cost structures and discounting.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Sales and Profitability by Category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C3481-9A82-F61A-4D4B-30C4B666F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10180"/>
            <a:ext cx="12192000" cy="3797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121453" y="5485253"/>
            <a:ext cx="1000148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Discounting Impact: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Furniture exhibits the highest average discount rates, which directly suppresses profitability despite strong sales volume.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Demand and Discount Dynamics</a:t>
            </a:r>
            <a:endParaRPr dirty="0"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D5337-2A6F-A12C-9A7E-79CDA7196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5348"/>
            <a:ext cx="12192000" cy="3887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9325"/>
            <a:ext cx="5286375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9325"/>
            <a:ext cx="5286375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62025" y="26574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Current Strengths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32004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Technology Dominance: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category remains our most profitable segment, maintaining healthy margins despite competition.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42005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Operational Volume: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Our Office Supplies infrastructure effectively handles the highest frequency of customer transactions.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24650" y="26574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Primary Concerns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24650" y="32004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Furniture Profit Gap: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significant disconnect exists between sales performance and profit conversion in this category.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24650" y="42005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Pricing Strategy: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Heavy reliance on discounts in specific categories is eroding our overall margin efficiency.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146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146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81600"/>
            <a:ext cx="52863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62000" y="571500"/>
            <a:ext cx="535066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15240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Prioritize Technology Growth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20669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Allocate additional marketing and inventory resources to Technology products to capitalize on their high profit-to-revenue ratio.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33528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Optimize Supply Bundling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38957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upselling or bundling strategies in Office Supplies to increase the average revenue per order and improve logistical efficiency.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62000" y="5372100"/>
            <a:ext cx="4905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Key Risk:</a:t>
            </a:r>
            <a:r>
              <a:rPr lang="en-US" sz="1350" b="0" i="0" u="none" strike="noStrike" cap="non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 Adjusting pricing or reducing discounts may cause short-term volume shifts. Mitigation involves targeted, category-specific pricing tests.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D7D206-3DFD-9F90-CDE8-3CCD30C4B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1057275"/>
            <a:ext cx="47434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61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Widescreen</PresentationFormat>
  <Paragraphs>40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Lato</vt:lpstr>
      <vt:lpstr>Poppins</vt:lpstr>
      <vt:lpstr>Poppins Medium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Nishant Bhat</dc:creator>
  <cp:lastModifiedBy>Nishant Bhat</cp:lastModifiedBy>
  <cp:revision>1</cp:revision>
  <dcterms:modified xsi:type="dcterms:W3CDTF">2026-03-06T20:53:55Z</dcterms:modified>
</cp:coreProperties>
</file>