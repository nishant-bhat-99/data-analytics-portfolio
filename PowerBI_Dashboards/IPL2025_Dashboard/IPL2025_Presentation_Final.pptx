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CA2CBB-F202-4DF6-813A-32657B04A975}">
  <a:tblStyle styleId="{96CA2CBB-F202-4DF6-813A-32657B04A9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27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067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90678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Business Question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183010"/>
            <a:ext cx="5500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In the high-stakes environment of IPL 2025, winning matches requires more than just talent—it requires data-driven decision making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571500" y="4926210"/>
            <a:ext cx="52387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067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869155" y="3101125"/>
            <a:ext cx="4905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Toss Impact: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Does winning the toss impact the match?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904874" y="3713450"/>
            <a:ext cx="4905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Team Performance: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Who leads the standings and why?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904874" y="4300704"/>
            <a:ext cx="4905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Player Impact: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Which players influence results the most?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571500"/>
            <a:ext cx="11401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IPL 2025</a:t>
            </a:r>
            <a:r>
              <a:rPr lang="en-US" sz="3600" kern="1200" dirty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en-US" sz="3600" kern="1200" dirty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519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701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7804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8;p13" descr="image.png">
            <a:extLst>
              <a:ext uri="{FF2B5EF4-FFF2-40B4-BE49-F238E27FC236}">
                <a16:creationId xmlns:a16="http://schemas.microsoft.com/office/drawing/2014/main" id="{2BF817BB-EF4B-53D4-C89E-06E4B806237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22829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3;p13">
            <a:extLst>
              <a:ext uri="{FF2B5EF4-FFF2-40B4-BE49-F238E27FC236}">
                <a16:creationId xmlns:a16="http://schemas.microsoft.com/office/drawing/2014/main" id="{69ECAB9D-961D-C2F9-6678-BBD4BBB36123}"/>
              </a:ext>
            </a:extLst>
          </p:cNvPr>
          <p:cNvSpPr txBox="1"/>
          <p:nvPr/>
        </p:nvSpPr>
        <p:spPr>
          <a:xfrm>
            <a:off x="904875" y="5001267"/>
            <a:ext cx="4905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Venue Strategy: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Which grounds favor which tactics?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647700" y="242551"/>
            <a:ext cx="11401425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Dataset Overview and KPIs</a:t>
            </a:r>
          </a:p>
        </p:txBody>
      </p:sp>
      <p:sp>
        <p:nvSpPr>
          <p:cNvPr id="129" name="Google Shape;129;p14"/>
          <p:cNvSpPr/>
          <p:nvPr/>
        </p:nvSpPr>
        <p:spPr>
          <a:xfrm>
            <a:off x="571500" y="263277"/>
            <a:ext cx="76200" cy="460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484D9E06-A82C-CF23-4EE3-66C95A601BAA}"/>
              </a:ext>
            </a:extLst>
          </p:cNvPr>
          <p:cNvSpPr txBox="1"/>
          <p:nvPr/>
        </p:nvSpPr>
        <p:spPr>
          <a:xfrm>
            <a:off x="590861" y="1669091"/>
            <a:ext cx="4869522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br>
              <a:rPr lang="en-US" sz="1800" dirty="0"/>
            </a:br>
            <a:r>
              <a:rPr lang="en-US" sz="1800" dirty="0"/>
              <a:t>The analysis is built on a comprehensive dataset of </a:t>
            </a:r>
            <a:r>
              <a:rPr lang="en-US" sz="1800" b="1" dirty="0"/>
              <a:t>74 matches</a:t>
            </a:r>
            <a:r>
              <a:rPr lang="en-US" sz="1800" dirty="0"/>
              <a:t> from the 2025 season, providing a complete picture of the season’s results.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It tracks basic match info like team names and dates, alongside tactical choices like who won the toss and whether they chose to bat or bowl first. </a:t>
            </a:r>
          </a:p>
          <a:p>
            <a:endParaRPr lang="en-US" sz="1800" dirty="0"/>
          </a:p>
          <a:p>
            <a:r>
              <a:rPr lang="en-US" sz="1800" dirty="0"/>
              <a:t>The data also records team scores, winning margins, and individual highlights like top scorers and best bowlers.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AD23A-C5BE-2E43-2813-CAECAD749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226" y="931002"/>
            <a:ext cx="2109993" cy="874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EF9F6-EC9E-F941-5439-C7B250499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820" y="915166"/>
            <a:ext cx="2109993" cy="868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93CB5E-2D93-74C5-989D-63CB270FE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869" y="3132499"/>
            <a:ext cx="2559515" cy="951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244679-BB61-1EBC-4A56-E0577CEB2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4866360"/>
            <a:ext cx="2450383" cy="8762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00F6D5-8037-532B-69E9-2E8D16CBC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8006" y="4829750"/>
            <a:ext cx="2254081" cy="9154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5E237C-385B-E398-08F9-9B3C7D906C4F}"/>
              </a:ext>
            </a:extLst>
          </p:cNvPr>
          <p:cNvSpPr txBox="1"/>
          <p:nvPr/>
        </p:nvSpPr>
        <p:spPr>
          <a:xfrm>
            <a:off x="5986226" y="1991641"/>
            <a:ext cx="23423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72 out of 74 matches were </a:t>
            </a:r>
            <a:br>
              <a:rPr lang="en-IN" dirty="0"/>
            </a:br>
            <a:r>
              <a:rPr lang="en-IN" dirty="0"/>
              <a:t>analysed as two matches </a:t>
            </a:r>
            <a:br>
              <a:rPr lang="en-IN" dirty="0"/>
            </a:br>
            <a:r>
              <a:rPr lang="en-IN" dirty="0"/>
              <a:t>were either abandoned or </a:t>
            </a:r>
            <a:br>
              <a:rPr lang="en-IN" dirty="0"/>
            </a:br>
            <a:r>
              <a:rPr lang="en-IN" dirty="0"/>
              <a:t>had no result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2D328B-7630-D092-7CC5-A5032934AA7E}"/>
              </a:ext>
            </a:extLst>
          </p:cNvPr>
          <p:cNvSpPr txBox="1"/>
          <p:nvPr/>
        </p:nvSpPr>
        <p:spPr>
          <a:xfrm>
            <a:off x="8791435" y="1897510"/>
            <a:ext cx="30107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Indicates that winning the coin toss </a:t>
            </a:r>
            <a:br>
              <a:rPr lang="en-US" dirty="0"/>
            </a:br>
            <a:r>
              <a:rPr lang="en-US" dirty="0"/>
              <a:t>provides a measurable advantage,</a:t>
            </a:r>
            <a:br>
              <a:rPr lang="en-US" dirty="0"/>
            </a:br>
            <a:r>
              <a:rPr lang="en-US" dirty="0"/>
              <a:t>resulting in a match win nearly </a:t>
            </a:r>
            <a:br>
              <a:rPr lang="en-US" dirty="0"/>
            </a:br>
            <a:r>
              <a:rPr lang="en-US" dirty="0"/>
              <a:t>60% of the time.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47E62-AD66-C47F-51BD-1AB636B773D3}"/>
              </a:ext>
            </a:extLst>
          </p:cNvPr>
          <p:cNvSpPr txBox="1"/>
          <p:nvPr/>
        </p:nvSpPr>
        <p:spPr>
          <a:xfrm>
            <a:off x="5741195" y="4136224"/>
            <a:ext cx="6450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Reveals that playing at a home ground was not a major advantage this season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9466F9-5E01-B481-DEB0-4515949FA064}"/>
              </a:ext>
            </a:extLst>
          </p:cNvPr>
          <p:cNvSpPr txBox="1"/>
          <p:nvPr/>
        </p:nvSpPr>
        <p:spPr>
          <a:xfrm>
            <a:off x="6198927" y="5890796"/>
            <a:ext cx="2244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Shows a slight preference</a:t>
            </a:r>
            <a:br>
              <a:rPr lang="en-US" dirty="0"/>
            </a:br>
            <a:r>
              <a:rPr lang="en-US" dirty="0"/>
              <a:t>for batting second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B6DEB-0DE0-75AD-A68A-18EFD014226E}"/>
              </a:ext>
            </a:extLst>
          </p:cNvPr>
          <p:cNvSpPr txBox="1"/>
          <p:nvPr/>
        </p:nvSpPr>
        <p:spPr>
          <a:xfrm>
            <a:off x="8932964" y="5942834"/>
            <a:ext cx="31790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Shows % of close wins where</a:t>
            </a:r>
            <a:br>
              <a:rPr lang="en-IN" dirty="0"/>
            </a:br>
            <a:r>
              <a:rPr lang="en-IN" dirty="0"/>
              <a:t>game was won either by less</a:t>
            </a:r>
            <a:br>
              <a:rPr lang="en-IN" dirty="0"/>
            </a:br>
            <a:r>
              <a:rPr lang="en-IN" dirty="0"/>
              <a:t>than 16 runs or by less than 3 wickets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226" y="5408352"/>
            <a:ext cx="11049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798188" y="304635"/>
            <a:ext cx="11401425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Key Insights</a:t>
            </a:r>
            <a:endParaRPr dirty="0"/>
          </a:p>
        </p:txBody>
      </p:sp>
      <p:sp>
        <p:nvSpPr>
          <p:cNvPr id="139" name="Google Shape;139;p15"/>
          <p:cNvSpPr/>
          <p:nvPr/>
        </p:nvSpPr>
        <p:spPr>
          <a:xfrm>
            <a:off x="571500" y="314650"/>
            <a:ext cx="76200" cy="460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C6776F-A969-E027-FC69-F5F6B7E7E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616" y="5222544"/>
            <a:ext cx="3867690" cy="2953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14463B-0D3A-26D1-82EB-72A170AC5BC9}"/>
              </a:ext>
            </a:extLst>
          </p:cNvPr>
          <p:cNvSpPr txBox="1"/>
          <p:nvPr/>
        </p:nvSpPr>
        <p:spPr>
          <a:xfrm>
            <a:off x="798188" y="5712775"/>
            <a:ext cx="545854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Batting first shows a 76.9% win rate but is a small 13-game outlier.</a:t>
            </a:r>
            <a:br>
              <a:rPr lang="en-US" dirty="0"/>
            </a:br>
            <a:r>
              <a:rPr lang="en-US" dirty="0"/>
              <a:t>The 60-game 'bowl first' sample (55% win rate) confirms </a:t>
            </a:r>
            <a:br>
              <a:rPr lang="en-US" dirty="0"/>
            </a:br>
            <a:r>
              <a:rPr lang="en-US" dirty="0"/>
              <a:t>chasing as the more consistent and reliable strategy league-wide.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ECBEAF-8E32-13FD-9D88-AABA83962DCE}"/>
              </a:ext>
            </a:extLst>
          </p:cNvPr>
          <p:cNvSpPr txBox="1"/>
          <p:nvPr/>
        </p:nvSpPr>
        <p:spPr>
          <a:xfrm>
            <a:off x="6256734" y="5694496"/>
            <a:ext cx="58753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Venue scoring varies significantly between different venue. </a:t>
            </a:r>
            <a:br>
              <a:rPr lang="en-US" dirty="0"/>
            </a:br>
            <a:r>
              <a:rPr lang="en-US" dirty="0"/>
              <a:t>High-aggregate grounds (400+) demand aggressive power-hitting to </a:t>
            </a:r>
            <a:br>
              <a:rPr lang="en-US" dirty="0"/>
            </a:br>
            <a:r>
              <a:rPr lang="en-US" dirty="0"/>
              <a:t>match high par scores, whereas lower-scoring grounds make </a:t>
            </a:r>
            <a:br>
              <a:rPr lang="en-US" dirty="0"/>
            </a:br>
            <a:r>
              <a:rPr lang="en-US" dirty="0"/>
              <a:t>spin-bowling and technical strike-rotation the decisive factors for victory.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0BC66B-B765-D5EB-8B22-1592C4C83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28100"/>
            <a:ext cx="4990645" cy="3924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1B3D81-927D-5B20-A611-6F1649D3C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245" y="82660"/>
            <a:ext cx="5996164" cy="5577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EA07859-F89F-9512-9CE8-C183524E7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2" y="147179"/>
            <a:ext cx="12003175" cy="6563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762000" y="571500"/>
            <a:ext cx="11401425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Assumptions and Limitations</a:t>
            </a:r>
            <a:endParaRPr dirty="0"/>
          </a:p>
        </p:txBody>
      </p:sp>
      <p:sp>
        <p:nvSpPr>
          <p:cNvPr id="200" name="Google Shape;200;p18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1119F446-F7C8-A6D1-89BE-F5FD9A2C4337}"/>
              </a:ext>
            </a:extLst>
          </p:cNvPr>
          <p:cNvSpPr/>
          <p:nvPr/>
        </p:nvSpPr>
        <p:spPr>
          <a:xfrm>
            <a:off x="305142" y="1403964"/>
            <a:ext cx="5571676" cy="5027658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92831D55-A1C7-3EB6-EBBC-610E7AC30AE3}"/>
              </a:ext>
            </a:extLst>
          </p:cNvPr>
          <p:cNvSpPr/>
          <p:nvPr/>
        </p:nvSpPr>
        <p:spPr>
          <a:xfrm>
            <a:off x="305142" y="1403963"/>
            <a:ext cx="5571676" cy="53069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2397AAE7-6571-04F4-F041-2C0BDB8A5E2B}"/>
              </a:ext>
            </a:extLst>
          </p:cNvPr>
          <p:cNvSpPr/>
          <p:nvPr/>
        </p:nvSpPr>
        <p:spPr>
          <a:xfrm>
            <a:off x="6096000" y="1403962"/>
            <a:ext cx="5790858" cy="5027657"/>
          </a:xfrm>
          <a:prstGeom prst="rect">
            <a:avLst/>
          </a:prstGeom>
          <a:solidFill>
            <a:srgbClr val="0F204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6EFABF2E-E370-B144-1B1A-E8219D00B5E6}"/>
              </a:ext>
            </a:extLst>
          </p:cNvPr>
          <p:cNvSpPr/>
          <p:nvPr/>
        </p:nvSpPr>
        <p:spPr>
          <a:xfrm>
            <a:off x="6096000" y="1403962"/>
            <a:ext cx="5790858" cy="530697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E0071198-184E-DB2C-4564-5036BFC2F746}"/>
              </a:ext>
            </a:extLst>
          </p:cNvPr>
          <p:cNvSpPr/>
          <p:nvPr/>
        </p:nvSpPr>
        <p:spPr>
          <a:xfrm>
            <a:off x="357746" y="15135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MADE</a:t>
            </a:r>
            <a:endParaRPr lang="en-US" sz="18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FFFBC983-E3DA-DEA2-79AD-0EFEF54D7A7A}"/>
              </a:ext>
            </a:extLst>
          </p:cNvPr>
          <p:cNvSpPr/>
          <p:nvPr/>
        </p:nvSpPr>
        <p:spPr>
          <a:xfrm>
            <a:off x="6132846" y="1523861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20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8E23FACB-55CD-5D96-A313-575B4C41BBC3}"/>
              </a:ext>
            </a:extLst>
          </p:cNvPr>
          <p:cNvSpPr/>
          <p:nvPr/>
        </p:nvSpPr>
        <p:spPr>
          <a:xfrm>
            <a:off x="452575" y="2364596"/>
            <a:ext cx="187817" cy="234131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EDF6FCEC-40AA-99FE-F2A2-E55238FA9CD1}"/>
              </a:ext>
            </a:extLst>
          </p:cNvPr>
          <p:cNvSpPr/>
          <p:nvPr/>
        </p:nvSpPr>
        <p:spPr>
          <a:xfrm>
            <a:off x="662887" y="2337165"/>
            <a:ext cx="5008447" cy="530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74 matches are treated equally regardless of league stage (group vs playoffs)</a:t>
            </a:r>
            <a:endParaRPr lang="en-US" sz="1600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F9D167F7-8A47-A677-A703-18DFF4B5294C}"/>
              </a:ext>
            </a:extLst>
          </p:cNvPr>
          <p:cNvSpPr/>
          <p:nvPr/>
        </p:nvSpPr>
        <p:spPr>
          <a:xfrm>
            <a:off x="452575" y="3932842"/>
            <a:ext cx="187817" cy="23413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7839C924-D21A-A298-E28A-DB26697381B0}"/>
              </a:ext>
            </a:extLst>
          </p:cNvPr>
          <p:cNvSpPr/>
          <p:nvPr/>
        </p:nvSpPr>
        <p:spPr>
          <a:xfrm>
            <a:off x="703983" y="3874587"/>
            <a:ext cx="5008447" cy="530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 % calculated only on valid matches (excluding abandoned/no toss)</a:t>
            </a:r>
            <a:endParaRPr lang="en-US" sz="1600" dirty="0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EEA38377-4C1B-17F8-3F6B-1EC9BF0E36EC}"/>
              </a:ext>
            </a:extLst>
          </p:cNvPr>
          <p:cNvSpPr/>
          <p:nvPr/>
        </p:nvSpPr>
        <p:spPr>
          <a:xfrm>
            <a:off x="6361244" y="2515315"/>
            <a:ext cx="145268" cy="187305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94206564-86DC-59A8-E2E2-748FE957EB4B}"/>
              </a:ext>
            </a:extLst>
          </p:cNvPr>
          <p:cNvSpPr/>
          <p:nvPr/>
        </p:nvSpPr>
        <p:spPr>
          <a:xfrm>
            <a:off x="6676555" y="2419355"/>
            <a:ext cx="4842283" cy="530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ball-by-ball data — phase-wise analysis (powerplay, death) not possible</a:t>
            </a:r>
            <a:endParaRPr lang="en-US" sz="16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FA2613A6-9676-57BD-2252-1DA37FB16476}"/>
              </a:ext>
            </a:extLst>
          </p:cNvPr>
          <p:cNvSpPr/>
          <p:nvPr/>
        </p:nvSpPr>
        <p:spPr>
          <a:xfrm>
            <a:off x="6359534" y="3900613"/>
            <a:ext cx="145268" cy="187305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1C529F3-3187-5B19-D4D0-3D2138C3E16B}"/>
              </a:ext>
            </a:extLst>
          </p:cNvPr>
          <p:cNvSpPr/>
          <p:nvPr/>
        </p:nvSpPr>
        <p:spPr>
          <a:xfrm>
            <a:off x="6717656" y="3783970"/>
            <a:ext cx="4306516" cy="539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player-level metrics (strike rates, economy rates, fielding stats)</a:t>
            </a:r>
            <a:endParaRPr lang="en-US" sz="1600" dirty="0"/>
          </a:p>
        </p:txBody>
      </p:sp>
      <p:sp>
        <p:nvSpPr>
          <p:cNvPr id="54" name="Text 33">
            <a:extLst>
              <a:ext uri="{FF2B5EF4-FFF2-40B4-BE49-F238E27FC236}">
                <a16:creationId xmlns:a16="http://schemas.microsoft.com/office/drawing/2014/main" id="{E71603DC-5E49-744E-9F30-FB2F13364D65}"/>
              </a:ext>
            </a:extLst>
          </p:cNvPr>
          <p:cNvSpPr/>
          <p:nvPr/>
        </p:nvSpPr>
        <p:spPr>
          <a:xfrm>
            <a:off x="6676555" y="5062656"/>
            <a:ext cx="4738034" cy="670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factors (weather, pitch condition, match importance) not captured</a:t>
            </a:r>
            <a:endParaRPr lang="en-US" sz="16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B679E8B3-FD32-D2EF-1916-97202AB87F0B}"/>
              </a:ext>
            </a:extLst>
          </p:cNvPr>
          <p:cNvSpPr/>
          <p:nvPr/>
        </p:nvSpPr>
        <p:spPr>
          <a:xfrm>
            <a:off x="6378372" y="5213989"/>
            <a:ext cx="145268" cy="187305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3380BB71-3779-9BCC-4B96-C3D952F97E0F}"/>
              </a:ext>
            </a:extLst>
          </p:cNvPr>
          <p:cNvSpPr/>
          <p:nvPr/>
        </p:nvSpPr>
        <p:spPr>
          <a:xfrm>
            <a:off x="450865" y="5122930"/>
            <a:ext cx="187817" cy="23413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574628F7-1BC6-5057-6681-1BCB01F32CE6}"/>
              </a:ext>
            </a:extLst>
          </p:cNvPr>
          <p:cNvSpPr/>
          <p:nvPr/>
        </p:nvSpPr>
        <p:spPr>
          <a:xfrm>
            <a:off x="661177" y="5239335"/>
            <a:ext cx="5008447" cy="530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assumed that the scoring averages recorded at each venue reflect the inherent characteristics of the pitch and ground size rather than temporary weather events.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B48926-ABE5-873F-288E-A8F422E72B01}"/>
              </a:ext>
            </a:extLst>
          </p:cNvPr>
          <p:cNvSpPr/>
          <p:nvPr/>
        </p:nvSpPr>
        <p:spPr>
          <a:xfrm>
            <a:off x="3829995" y="2967335"/>
            <a:ext cx="4532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426</Words>
  <Application>Microsoft Office PowerPoint</Application>
  <PresentationFormat>Widescreen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Poppins</vt:lpstr>
      <vt:lpstr>Calibri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Nishant Bhat</cp:lastModifiedBy>
  <cp:revision>2</cp:revision>
  <dcterms:modified xsi:type="dcterms:W3CDTF">2026-03-18T06:55:09Z</dcterms:modified>
</cp:coreProperties>
</file>